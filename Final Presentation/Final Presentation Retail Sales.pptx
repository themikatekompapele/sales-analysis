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Retai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Retai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sales_quarters_results_pivo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sales_quarters_results_pivo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[Retail.xlsx]Sheet2!PivotTable2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Sales vs. Cost of Sales Over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637CEF"/>
          </a:solidFill>
          <a:ln w="28575" cap="rnd">
            <a:solidFill>
              <a:srgbClr val="637CEF"/>
            </a:solidFill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37CEF"/>
          </a:solidFill>
          <a:ln w="28575" cap="rnd">
            <a:solidFill>
              <a:srgbClr val="FFC000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7CEF"/>
          </a:solidFill>
          <a:ln w="28575" cap="rnd">
            <a:solidFill>
              <a:srgbClr val="FFC000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layout>
            <c:manualLayout>
              <c:x val="-0.14063599926844081"/>
              <c:y val="-4.81927710843373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7CEF"/>
          </a:solidFill>
          <a:ln w="28575" cap="rnd">
            <a:solidFill>
              <a:srgbClr val="637CEF"/>
            </a:solidFill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layout>
            <c:manualLayout>
              <c:x val="3.0035335689045935E-2"/>
              <c:y val="-4.03611479416838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7CEF"/>
          </a:solidFill>
          <a:ln w="28575" cap="rnd">
            <a:solidFill>
              <a:srgbClr val="637CEF"/>
            </a:solidFill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37CEF"/>
          </a:solidFill>
          <a:ln w="28575" cap="rnd">
            <a:solidFill>
              <a:srgbClr val="637CEF"/>
            </a:solidFill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layout>
            <c:manualLayout>
              <c:x val="3.0035335689045935E-2"/>
              <c:y val="-4.03611479416838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7CEF"/>
          </a:solidFill>
          <a:ln w="28575" cap="rnd">
            <a:solidFill>
              <a:srgbClr val="FFC000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7CEF"/>
          </a:solidFill>
          <a:ln w="28575" cap="rnd">
            <a:solidFill>
              <a:srgbClr val="FFC000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layout>
            <c:manualLayout>
              <c:x val="-0.14063599926844081"/>
              <c:y val="-4.81927710843373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637CEF"/>
          </a:solidFill>
          <a:ln w="28575" cap="rnd">
            <a:solidFill>
              <a:srgbClr val="637CEF"/>
            </a:solidFill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637CEF"/>
          </a:solidFill>
          <a:ln w="28575" cap="rnd">
            <a:solidFill>
              <a:srgbClr val="637CEF"/>
            </a:solidFill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layout>
            <c:manualLayout>
              <c:x val="3.0035335689045935E-2"/>
              <c:y val="-4.03611479416838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37CEF"/>
          </a:solidFill>
          <a:ln w="28575" cap="rnd">
            <a:solidFill>
              <a:srgbClr val="FFC000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637CEF"/>
          </a:solidFill>
          <a:ln w="28575" cap="rnd">
            <a:solidFill>
              <a:srgbClr val="FFC000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layout>
            <c:manualLayout>
              <c:x val="-0.14063599926844081"/>
              <c:y val="-4.81927710843373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 Sales</c:v>
                </c:pt>
              </c:strCache>
            </c:strRef>
          </c:tx>
          <c:spPr>
            <a:ln w="28575" cap="rnd">
              <a:solidFill>
                <a:srgbClr val="637CEF"/>
              </a:solidFill>
              <a:round/>
            </a:ln>
            <a:effectLst/>
          </c:spPr>
          <c:marker>
            <c:symbol val="x"/>
            <c:size val="5"/>
            <c:spPr>
              <a:noFill/>
              <a:ln w="9525">
                <a:solidFill>
                  <a:srgbClr val="637CEF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3.0035335689045935E-2"/>
                  <c:y val="-4.03611479416838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A55-4F59-8DFE-B171B14F0A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Sheet2!$A$4:$A$8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Sheet2!$B$4:$B$8</c:f>
              <c:numCache>
                <c:formatCode>_([$ZAR]\ * #,##0_);_([$ZAR]\ * \(#,##0\);_([$ZAR]\ * "-"_);_(@_)</c:formatCode>
                <c:ptCount val="4"/>
                <c:pt idx="0">
                  <c:v>524283.44999999902</c:v>
                </c:pt>
                <c:pt idx="1">
                  <c:v>75414975.640000001</c:v>
                </c:pt>
                <c:pt idx="2">
                  <c:v>64017593.3699999</c:v>
                </c:pt>
                <c:pt idx="3">
                  <c:v>46952975.670000002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55-4F59-8DFE-B171B14F0AC6}"/>
            </c:ext>
          </c:extLst>
        </c:ser>
        <c:ser>
          <c:idx val="1"/>
          <c:order val="1"/>
          <c:tx>
            <c:strRef>
              <c:f>Sheet2!$C$3</c:f>
              <c:strCache>
                <c:ptCount val="1"/>
                <c:pt idx="0">
                  <c:v>Total Cost of Sales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14063599926844081"/>
                  <c:y val="-4.81927710843373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A55-4F59-8DFE-B171B14F0A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Sheet2!$A$4:$A$8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Sheet2!$C$4:$C$8</c:f>
              <c:numCache>
                <c:formatCode>_([$ZAR]\ * #,##0_);_([$ZAR]\ * \(#,##0\);_([$ZAR]\ * "-"_);_(@_)</c:formatCode>
                <c:ptCount val="4"/>
                <c:pt idx="0">
                  <c:v>537065.74</c:v>
                </c:pt>
                <c:pt idx="1">
                  <c:v>77680849.659999996</c:v>
                </c:pt>
                <c:pt idx="2">
                  <c:v>67917203.959999904</c:v>
                </c:pt>
                <c:pt idx="3">
                  <c:v>47890990.25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A55-4F59-8DFE-B171B14F0A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7658760"/>
        <c:axId val="1187664904"/>
      </c:lineChart>
      <c:catAx>
        <c:axId val="1187658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664904"/>
        <c:crosses val="autoZero"/>
        <c:auto val="1"/>
        <c:lblAlgn val="ctr"/>
        <c:lblOffset val="100"/>
        <c:noMultiLvlLbl val="0"/>
      </c:catAx>
      <c:valAx>
        <c:axId val="1187664904"/>
        <c:scaling>
          <c:orientation val="minMax"/>
        </c:scaling>
        <c:delete val="1"/>
        <c:axPos val="l"/>
        <c:numFmt formatCode="_([$ZAR]\ * #,##0_);_([$ZAR]\ * \(#,##0\);_([$ZAR]\ * &quot;-&quot;_);_(@_)" sourceLinked="1"/>
        <c:majorTickMark val="none"/>
        <c:minorTickMark val="none"/>
        <c:tickLblPos val="nextTo"/>
        <c:crossAx val="1187658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rgbClr val="000000"/>
          </a:solidFill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[Retail.xlsx]Sheet1!PivotTable1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Sales Distribution by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249999999999989"/>
              <c:y val="-8.53658536585366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9373C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7500000000000002"/>
              <c:y val="-2.80487246629668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2AA0A4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0125001271565759"/>
              <c:y val="-4.87806738876714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E3008C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9833335876464844"/>
              <c:y val="9.75609756097560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249999999999989"/>
              <c:y val="-8.53658536585366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9833335876464844"/>
              <c:y val="9.75609756097560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0125001271565759"/>
              <c:y val="-4.87806738876714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7500000000000002"/>
              <c:y val="-2.80487246629668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249999999999989"/>
              <c:y val="-8.53658536585366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9833335876464844"/>
              <c:y val="9.75609756097560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0125001271565759"/>
              <c:y val="-4.87806738876714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7500000000000002"/>
              <c:y val="-2.80487246629668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Sheet1!$B$7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637C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04-4B83-BE2C-933D95E94879}"/>
              </c:ext>
            </c:extLst>
          </c:dPt>
          <c:dPt>
            <c:idx val="1"/>
            <c:bubble3D val="0"/>
            <c:spPr>
              <a:solidFill>
                <a:srgbClr val="E3008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04-4B83-BE2C-933D95E94879}"/>
              </c:ext>
            </c:extLst>
          </c:dPt>
          <c:dPt>
            <c:idx val="2"/>
            <c:bubble3D val="0"/>
            <c:spPr>
              <a:solidFill>
                <a:srgbClr val="2AA0A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604-4B83-BE2C-933D95E94879}"/>
              </c:ext>
            </c:extLst>
          </c:dPt>
          <c:dPt>
            <c:idx val="3"/>
            <c:bubble3D val="0"/>
            <c:spPr>
              <a:solidFill>
                <a:srgbClr val="9373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604-4B83-BE2C-933D95E94879}"/>
              </c:ext>
            </c:extLst>
          </c:dPt>
          <c:dLbls>
            <c:dLbl>
              <c:idx val="0"/>
              <c:layout>
                <c:manualLayout>
                  <c:x val="0.16249999999999989"/>
                  <c:y val="-8.53658536585366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04-4B83-BE2C-933D95E94879}"/>
                </c:ext>
              </c:extLst>
            </c:dLbl>
            <c:dLbl>
              <c:idx val="1"/>
              <c:layout>
                <c:manualLayout>
                  <c:x val="0.19833335876464844"/>
                  <c:y val="9.75609756097560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04-4B83-BE2C-933D95E94879}"/>
                </c:ext>
              </c:extLst>
            </c:dLbl>
            <c:dLbl>
              <c:idx val="2"/>
              <c:layout>
                <c:manualLayout>
                  <c:x val="-0.20125001271565759"/>
                  <c:y val="-4.87806738876714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04-4B83-BE2C-933D95E94879}"/>
                </c:ext>
              </c:extLst>
            </c:dLbl>
            <c:dLbl>
              <c:idx val="3"/>
              <c:layout>
                <c:manualLayout>
                  <c:x val="-0.17500000000000002"/>
                  <c:y val="-2.80487246629668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04-4B83-BE2C-933D95E948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Sheet1!$A$8:$A$12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Sheet1!$B$8:$B$12</c:f>
              <c:numCache>
                <c:formatCode>0.00%</c:formatCode>
                <c:ptCount val="4"/>
                <c:pt idx="0">
                  <c:v>2.8050073944498426E-3</c:v>
                </c:pt>
                <c:pt idx="1">
                  <c:v>0.40348320039943114</c:v>
                </c:pt>
                <c:pt idx="2">
                  <c:v>0.34250522837929231</c:v>
                </c:pt>
                <c:pt idx="3">
                  <c:v>0.25120656382682649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604-4B83-BE2C-933D95E948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rgbClr val="000000"/>
          </a:solidFill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[sales_quarters_results_pivots.xlsx]Sheet1!PivotTable1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Total Quantity Sold vs. Daily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AD47"/>
          </a:solidFill>
          <a:ln>
            <a:noFill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37CEF"/>
          </a:solidFill>
          <a:ln w="28575" cap="rnd">
            <a:solidFill>
              <a:srgbClr val="FFC0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E3008C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7CEF"/>
          </a:solidFill>
          <a:ln w="28575" cap="rnd">
            <a:solidFill>
              <a:srgbClr val="FFC0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E3008C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37CEF"/>
          </a:solidFill>
          <a:ln w="28575" cap="rnd">
            <a:solidFill>
              <a:srgbClr val="FFC0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E3008C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</c:f>
              <c:strCache>
                <c:ptCount val="1"/>
                <c:pt idx="0">
                  <c:v>Total Quantity Sold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Sheet1!$A$8:$A$21</c:f>
              <c:strCache>
                <c:ptCount val="13"/>
                <c:pt idx="0">
                  <c:v>2013 Q4</c:v>
                </c:pt>
                <c:pt idx="1">
                  <c:v>2014 Q1</c:v>
                </c:pt>
                <c:pt idx="2">
                  <c:v>2014 Q2</c:v>
                </c:pt>
                <c:pt idx="3">
                  <c:v>2014 Q3</c:v>
                </c:pt>
                <c:pt idx="4">
                  <c:v>2014 Q4</c:v>
                </c:pt>
                <c:pt idx="5">
                  <c:v>2015 Q1</c:v>
                </c:pt>
                <c:pt idx="6">
                  <c:v>2015 Q2</c:v>
                </c:pt>
                <c:pt idx="7">
                  <c:v>2015 Q3</c:v>
                </c:pt>
                <c:pt idx="8">
                  <c:v>2015 Q4</c:v>
                </c:pt>
                <c:pt idx="9">
                  <c:v>2016 Q1</c:v>
                </c:pt>
                <c:pt idx="10">
                  <c:v>2016 Q2</c:v>
                </c:pt>
                <c:pt idx="11">
                  <c:v>2016 Q3</c:v>
                </c:pt>
                <c:pt idx="12">
                  <c:v>2016 Q4</c:v>
                </c:pt>
              </c:strCache>
            </c:strRef>
          </c:cat>
          <c:val>
            <c:numRef>
              <c:f>Sheet1!$B$8:$B$21</c:f>
              <c:numCache>
                <c:formatCode>General</c:formatCode>
                <c:ptCount val="13"/>
                <c:pt idx="0">
                  <c:v>16095</c:v>
                </c:pt>
                <c:pt idx="1">
                  <c:v>550836</c:v>
                </c:pt>
                <c:pt idx="2">
                  <c:v>624741</c:v>
                </c:pt>
                <c:pt idx="3">
                  <c:v>695763</c:v>
                </c:pt>
                <c:pt idx="4">
                  <c:v>382890</c:v>
                </c:pt>
                <c:pt idx="5">
                  <c:v>356166</c:v>
                </c:pt>
                <c:pt idx="6">
                  <c:v>511058</c:v>
                </c:pt>
                <c:pt idx="7">
                  <c:v>339336</c:v>
                </c:pt>
                <c:pt idx="8">
                  <c:v>508529</c:v>
                </c:pt>
                <c:pt idx="9">
                  <c:v>357736</c:v>
                </c:pt>
                <c:pt idx="10">
                  <c:v>534002</c:v>
                </c:pt>
                <c:pt idx="11">
                  <c:v>302946</c:v>
                </c:pt>
                <c:pt idx="12">
                  <c:v>99774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DF-4041-A148-6DA199FD5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2"/>
        <c:axId val="175894023"/>
        <c:axId val="227616263"/>
      </c:barChart>
      <c:lineChart>
        <c:grouping val="standard"/>
        <c:varyColors val="0"/>
        <c:ser>
          <c:idx val="1"/>
          <c:order val="1"/>
          <c:tx>
            <c:strRef>
              <c:f>Sheet1!$C$7</c:f>
              <c:strCache>
                <c:ptCount val="1"/>
                <c:pt idx="0">
                  <c:v>% Average Daily Profit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x"/>
            <c:size val="5"/>
            <c:spPr>
              <a:noFill/>
              <a:ln w="9525">
                <a:solidFill>
                  <a:srgbClr val="E3008C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Sheet1!$A$8:$A$21</c:f>
              <c:strCache>
                <c:ptCount val="13"/>
                <c:pt idx="0">
                  <c:v>2013 Q4</c:v>
                </c:pt>
                <c:pt idx="1">
                  <c:v>2014 Q1</c:v>
                </c:pt>
                <c:pt idx="2">
                  <c:v>2014 Q2</c:v>
                </c:pt>
                <c:pt idx="3">
                  <c:v>2014 Q3</c:v>
                </c:pt>
                <c:pt idx="4">
                  <c:v>2014 Q4</c:v>
                </c:pt>
                <c:pt idx="5">
                  <c:v>2015 Q1</c:v>
                </c:pt>
                <c:pt idx="6">
                  <c:v>2015 Q2</c:v>
                </c:pt>
                <c:pt idx="7">
                  <c:v>2015 Q3</c:v>
                </c:pt>
                <c:pt idx="8">
                  <c:v>2015 Q4</c:v>
                </c:pt>
                <c:pt idx="9">
                  <c:v>2016 Q1</c:v>
                </c:pt>
                <c:pt idx="10">
                  <c:v>2016 Q2</c:v>
                </c:pt>
                <c:pt idx="11">
                  <c:v>2016 Q3</c:v>
                </c:pt>
                <c:pt idx="12">
                  <c:v>2016 Q4</c:v>
                </c:pt>
              </c:strCache>
            </c:strRef>
          </c:cat>
          <c:val>
            <c:numRef>
              <c:f>Sheet1!$C$8:$C$21</c:f>
              <c:numCache>
                <c:formatCode>0.00</c:formatCode>
                <c:ptCount val="13"/>
                <c:pt idx="0">
                  <c:v>2.5437536E-2</c:v>
                </c:pt>
                <c:pt idx="1">
                  <c:v>2.1871395880000009</c:v>
                </c:pt>
                <c:pt idx="2">
                  <c:v>1.8605342879999998</c:v>
                </c:pt>
                <c:pt idx="3">
                  <c:v>2.0467058950000001</c:v>
                </c:pt>
                <c:pt idx="4">
                  <c:v>3.7997081270000015</c:v>
                </c:pt>
                <c:pt idx="5">
                  <c:v>3.291930708999999</c:v>
                </c:pt>
                <c:pt idx="6">
                  <c:v>2.5904363649999991</c:v>
                </c:pt>
                <c:pt idx="7">
                  <c:v>4.4095802140000009</c:v>
                </c:pt>
                <c:pt idx="8">
                  <c:v>2.5554828980000011</c:v>
                </c:pt>
                <c:pt idx="9">
                  <c:v>3.6382479050000014</c:v>
                </c:pt>
                <c:pt idx="10">
                  <c:v>2.7980384109999985</c:v>
                </c:pt>
                <c:pt idx="11">
                  <c:v>5.3788296640000013</c:v>
                </c:pt>
                <c:pt idx="12">
                  <c:v>2.8227711279999999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DF-4041-A148-6DA199FD5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7953159"/>
        <c:axId val="227947015"/>
      </c:lineChart>
      <c:catAx>
        <c:axId val="175894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227616263"/>
        <c:crosses val="autoZero"/>
        <c:auto val="1"/>
        <c:lblAlgn val="ctr"/>
        <c:lblOffset val="100"/>
        <c:noMultiLvlLbl val="0"/>
      </c:catAx>
      <c:valAx>
        <c:axId val="2276162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75894023"/>
        <c:crosses val="autoZero"/>
        <c:crossBetween val="between"/>
      </c:valAx>
      <c:valAx>
        <c:axId val="227947015"/>
        <c:scaling>
          <c:orientation val="minMax"/>
          <c:min val="0"/>
        </c:scaling>
        <c:delete val="0"/>
        <c:axPos val="r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227953159"/>
        <c:crosses val="max"/>
        <c:crossBetween val="between"/>
      </c:valAx>
      <c:catAx>
        <c:axId val="22795315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279470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rgbClr val="000000"/>
          </a:solidFill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[sales_quarters_results_pivots.xlsx]Sheet3!PivotTable1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Price Elasticity of Demand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637CEF"/>
          </a:solidFill>
          <a:ln w="28575" cap="rnd">
            <a:solidFill>
              <a:srgbClr val="FFFF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37CEF"/>
          </a:solidFill>
          <a:ln w="28575" cap="rnd">
            <a:solidFill>
              <a:srgbClr val="FFFF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layout>
            <c:manualLayout>
              <c:x val="-1.5632761915031809E-2"/>
              <c:y val="-5.25743437976371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7CEF"/>
          </a:solidFill>
          <a:ln w="28575" cap="rnd">
            <a:solidFill>
              <a:srgbClr val="FFFF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layout>
            <c:manualLayout>
              <c:x val="2.9776599211964951E-3"/>
              <c:y val="-6.12466290068174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7CEF"/>
          </a:solidFill>
          <a:ln w="28575" cap="rnd">
            <a:solidFill>
              <a:srgbClr val="FFFF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7CEF"/>
          </a:solidFill>
          <a:ln w="28575" cap="rnd">
            <a:solidFill>
              <a:srgbClr val="FFFF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layout>
            <c:manualLayout>
              <c:x val="-1.5632761915031809E-2"/>
              <c:y val="-5.25743437976371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37CEF"/>
          </a:solidFill>
          <a:ln w="28575" cap="rnd">
            <a:solidFill>
              <a:srgbClr val="FFFF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layout>
            <c:manualLayout>
              <c:x val="2.9776599211964951E-3"/>
              <c:y val="-6.12466290068174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7CEF"/>
          </a:solidFill>
          <a:ln w="28575" cap="rnd">
            <a:solidFill>
              <a:srgbClr val="FFFF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7CEF"/>
          </a:solidFill>
          <a:ln w="28575" cap="rnd">
            <a:solidFill>
              <a:srgbClr val="FFFF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layout>
            <c:manualLayout>
              <c:x val="-1.5632761915031809E-2"/>
              <c:y val="-5.25743437976371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637CEF"/>
          </a:solidFill>
          <a:ln w="28575" cap="rnd">
            <a:solidFill>
              <a:srgbClr val="FFFF00"/>
            </a:solidFill>
            <a:prstDash val="solid"/>
            <a:round/>
          </a:ln>
          <a:effectLst/>
        </c:spPr>
        <c:marker>
          <c:symbol val="x"/>
          <c:size val="5"/>
          <c:spPr>
            <a:noFill/>
            <a:ln w="9525">
              <a:solidFill>
                <a:srgbClr val="637CEF"/>
              </a:solidFill>
            </a:ln>
            <a:effectLst/>
          </c:spPr>
        </c:marker>
        <c:dLbl>
          <c:idx val="0"/>
          <c:layout>
            <c:manualLayout>
              <c:x val="2.9776599211964951E-3"/>
              <c:y val="-6.12466290068174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FFFF00"/>
              </a:solidFill>
              <a:prstDash val="solid"/>
              <a:round/>
            </a:ln>
            <a:effectLst/>
          </c:spPr>
          <c:marker>
            <c:symbol val="x"/>
            <c:size val="5"/>
            <c:spPr>
              <a:noFill/>
              <a:ln w="9525">
                <a:solidFill>
                  <a:srgbClr val="637CEF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5632761915031809E-2"/>
                  <c:y val="-5.25743437976371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12B-42CF-A848-5721B591C774}"/>
                </c:ext>
              </c:extLst>
            </c:dLbl>
            <c:dLbl>
              <c:idx val="1"/>
              <c:layout>
                <c:manualLayout>
                  <c:x val="2.9776599211964951E-3"/>
                  <c:y val="-6.12466290068174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12B-42CF-A848-5721B591C7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Sheet3!$A$4:$A$17</c:f>
              <c:strCache>
                <c:ptCount val="13"/>
                <c:pt idx="0">
                  <c:v>2013 Q4</c:v>
                </c:pt>
                <c:pt idx="1">
                  <c:v>2014 Q1</c:v>
                </c:pt>
                <c:pt idx="2">
                  <c:v>2014 Q2</c:v>
                </c:pt>
                <c:pt idx="3">
                  <c:v>2014 Q3</c:v>
                </c:pt>
                <c:pt idx="4">
                  <c:v>2014 Q4</c:v>
                </c:pt>
                <c:pt idx="5">
                  <c:v>2015 Q1</c:v>
                </c:pt>
                <c:pt idx="6">
                  <c:v>2015 Q2</c:v>
                </c:pt>
                <c:pt idx="7">
                  <c:v>2015 Q3</c:v>
                </c:pt>
                <c:pt idx="8">
                  <c:v>2015 Q4</c:v>
                </c:pt>
                <c:pt idx="9">
                  <c:v>2016 Q1</c:v>
                </c:pt>
                <c:pt idx="10">
                  <c:v>2016 Q2</c:v>
                </c:pt>
                <c:pt idx="11">
                  <c:v>2016 Q3</c:v>
                </c:pt>
                <c:pt idx="12">
                  <c:v>2016 Q4</c:v>
                </c:pt>
              </c:strCache>
            </c:strRef>
          </c:cat>
          <c:val>
            <c:numRef>
              <c:f>Sheet3!$B$4:$B$17</c:f>
              <c:numCache>
                <c:formatCode>0.00</c:formatCode>
                <c:ptCount val="13"/>
                <c:pt idx="0">
                  <c:v>-1.616124579037614</c:v>
                </c:pt>
                <c:pt idx="1">
                  <c:v>-4.8533201383362572</c:v>
                </c:pt>
                <c:pt idx="2">
                  <c:v>-49.1143080380985</c:v>
                </c:pt>
                <c:pt idx="3">
                  <c:v>-72.184564436095826</c:v>
                </c:pt>
                <c:pt idx="4">
                  <c:v>39.504726146703895</c:v>
                </c:pt>
                <c:pt idx="5">
                  <c:v>-129.12267071531065</c:v>
                </c:pt>
                <c:pt idx="6">
                  <c:v>-116.24545519399014</c:v>
                </c:pt>
                <c:pt idx="7">
                  <c:v>-118.73584058110491</c:v>
                </c:pt>
                <c:pt idx="8">
                  <c:v>-149.45782331003818</c:v>
                </c:pt>
                <c:pt idx="9">
                  <c:v>69.850571767353756</c:v>
                </c:pt>
                <c:pt idx="10">
                  <c:v>-61.660506840218083</c:v>
                </c:pt>
                <c:pt idx="11">
                  <c:v>235.96091410086336</c:v>
                </c:pt>
                <c:pt idx="12">
                  <c:v>175.91035142133234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12B-42CF-A848-5721B591C7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5960839"/>
        <c:axId val="1355962887"/>
      </c:lineChart>
      <c:catAx>
        <c:axId val="13559608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355962887"/>
        <c:crosses val="autoZero"/>
        <c:auto val="1"/>
        <c:lblAlgn val="ctr"/>
        <c:lblOffset val="100"/>
        <c:noMultiLvlLbl val="0"/>
      </c:catAx>
      <c:valAx>
        <c:axId val="1355962887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355960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2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3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4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CF099-2A0F-4EB5-94EA-FBC1D75F34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8B78C60-7E44-4BCA-AF13-0E998EC9B0D7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100" dirty="0">
              <a:solidFill>
                <a:srgbClr val="FFFFFF"/>
              </a:solidFill>
              <a:latin typeface="Times New Roman"/>
              <a:ea typeface="+mn-ea"/>
              <a:cs typeface="+mn-cs"/>
            </a:rPr>
            <a:t>TOTAL SALES   R 187 M</a:t>
          </a:r>
        </a:p>
      </dgm:t>
    </dgm:pt>
    <dgm:pt modelId="{81E451BA-0EAF-41CD-AA85-BDE1C91719FD}" type="parTrans" cxnId="{4143D68E-ED7E-46F9-B1EF-A133C1DC3122}">
      <dgm:prSet/>
      <dgm:spPr/>
      <dgm:t>
        <a:bodyPr/>
        <a:lstStyle/>
        <a:p>
          <a:endParaRPr lang="en-US"/>
        </a:p>
      </dgm:t>
    </dgm:pt>
    <dgm:pt modelId="{0785EA1D-03BE-4E61-8A34-FF49B6B80EC7}" type="sibTrans" cxnId="{4143D68E-ED7E-46F9-B1EF-A133C1DC3122}">
      <dgm:prSet/>
      <dgm:spPr/>
      <dgm:t>
        <a:bodyPr/>
        <a:lstStyle/>
        <a:p>
          <a:endParaRPr lang="en-US"/>
        </a:p>
      </dgm:t>
    </dgm:pt>
    <dgm:pt modelId="{BAE59DD9-0773-4562-8F49-B4E25BD6CA04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100" dirty="0">
              <a:solidFill>
                <a:srgbClr val="FFFFFF"/>
              </a:solidFill>
              <a:latin typeface="Times New Roman"/>
              <a:ea typeface="+mn-ea"/>
              <a:cs typeface="+mn-cs"/>
            </a:rPr>
            <a:t>DAILY SELLING PRICE R37.05</a:t>
          </a:r>
        </a:p>
      </dgm:t>
    </dgm:pt>
    <dgm:pt modelId="{05849BE5-B334-4224-9784-FF41FBCFC6CD}" type="parTrans" cxnId="{A1B6C232-D834-43BC-A931-C1A1081951C6}">
      <dgm:prSet/>
      <dgm:spPr/>
      <dgm:t>
        <a:bodyPr/>
        <a:lstStyle/>
        <a:p>
          <a:endParaRPr lang="en-US"/>
        </a:p>
      </dgm:t>
    </dgm:pt>
    <dgm:pt modelId="{C71E97BB-198F-4424-9E39-7024EE90A7F0}" type="sibTrans" cxnId="{A1B6C232-D834-43BC-A931-C1A1081951C6}">
      <dgm:prSet/>
      <dgm:spPr/>
      <dgm:t>
        <a:bodyPr/>
        <a:lstStyle/>
        <a:p>
          <a:endParaRPr lang="en-US"/>
        </a:p>
      </dgm:t>
    </dgm:pt>
    <dgm:pt modelId="{C907C8CE-51AA-4AA9-8F75-FF204A67042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100" dirty="0">
              <a:solidFill>
                <a:srgbClr val="FFFFFF"/>
              </a:solidFill>
              <a:latin typeface="Times New Roman"/>
              <a:ea typeface="+mn-ea"/>
              <a:cs typeface="+mn-cs"/>
            </a:rPr>
            <a:t>TOTAL UNITS SOLD 5M</a:t>
          </a:r>
        </a:p>
      </dgm:t>
    </dgm:pt>
    <dgm:pt modelId="{2332BA17-FBD9-403B-BA81-44B97C55ADE0}" type="parTrans" cxnId="{ABC96BC8-16DD-4F97-8DB4-B4CC0F230CEE}">
      <dgm:prSet/>
      <dgm:spPr/>
      <dgm:t>
        <a:bodyPr/>
        <a:lstStyle/>
        <a:p>
          <a:endParaRPr lang="en-US"/>
        </a:p>
      </dgm:t>
    </dgm:pt>
    <dgm:pt modelId="{1B6795D1-F0F6-4B69-8ECE-ED890F7DA21B}" type="sibTrans" cxnId="{ABC96BC8-16DD-4F97-8DB4-B4CC0F230CEE}">
      <dgm:prSet/>
      <dgm:spPr/>
      <dgm:t>
        <a:bodyPr/>
        <a:lstStyle/>
        <a:p>
          <a:endParaRPr lang="en-US"/>
        </a:p>
      </dgm:t>
    </dgm:pt>
    <dgm:pt modelId="{15137C68-4B5D-4B1D-B4B2-80402D21D7DA}" type="pres">
      <dgm:prSet presAssocID="{C3CCF099-2A0F-4EB5-94EA-FBC1D75F3439}" presName="linear" presStyleCnt="0">
        <dgm:presLayoutVars>
          <dgm:animLvl val="lvl"/>
          <dgm:resizeHandles val="exact"/>
        </dgm:presLayoutVars>
      </dgm:prSet>
      <dgm:spPr/>
    </dgm:pt>
    <dgm:pt modelId="{AC7E9ECE-4C70-4D4F-BF40-0EA860708286}" type="pres">
      <dgm:prSet presAssocID="{58B78C60-7E44-4BCA-AF13-0E998EC9B0D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14F32EE-BECB-449B-BB27-4C6955C0D888}" type="pres">
      <dgm:prSet presAssocID="{0785EA1D-03BE-4E61-8A34-FF49B6B80EC7}" presName="spacer" presStyleCnt="0"/>
      <dgm:spPr/>
    </dgm:pt>
    <dgm:pt modelId="{35330516-8074-475F-A359-66E036674FBA}" type="pres">
      <dgm:prSet presAssocID="{BAE59DD9-0773-4562-8F49-B4E25BD6CA0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0D22477-E0E4-46DD-A10D-FA73F8F52B98}" type="pres">
      <dgm:prSet presAssocID="{C71E97BB-198F-4424-9E39-7024EE90A7F0}" presName="spacer" presStyleCnt="0"/>
      <dgm:spPr/>
    </dgm:pt>
    <dgm:pt modelId="{450465F3-FCDA-4106-9538-57F53166C87C}" type="pres">
      <dgm:prSet presAssocID="{C907C8CE-51AA-4AA9-8F75-FF204A67042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E8C951F-C956-4506-BC74-7ED57FC15E7C}" type="presOf" srcId="{58B78C60-7E44-4BCA-AF13-0E998EC9B0D7}" destId="{AC7E9ECE-4C70-4D4F-BF40-0EA860708286}" srcOrd="0" destOrd="0" presId="urn:microsoft.com/office/officeart/2005/8/layout/vList2"/>
    <dgm:cxn modelId="{A1B6C232-D834-43BC-A931-C1A1081951C6}" srcId="{C3CCF099-2A0F-4EB5-94EA-FBC1D75F3439}" destId="{BAE59DD9-0773-4562-8F49-B4E25BD6CA04}" srcOrd="1" destOrd="0" parTransId="{05849BE5-B334-4224-9784-FF41FBCFC6CD}" sibTransId="{C71E97BB-198F-4424-9E39-7024EE90A7F0}"/>
    <dgm:cxn modelId="{4143D68E-ED7E-46F9-B1EF-A133C1DC3122}" srcId="{C3CCF099-2A0F-4EB5-94EA-FBC1D75F3439}" destId="{58B78C60-7E44-4BCA-AF13-0E998EC9B0D7}" srcOrd="0" destOrd="0" parTransId="{81E451BA-0EAF-41CD-AA85-BDE1C91719FD}" sibTransId="{0785EA1D-03BE-4E61-8A34-FF49B6B80EC7}"/>
    <dgm:cxn modelId="{654BEEA1-1457-4DFC-AA97-8CCA5F19B858}" type="presOf" srcId="{C3CCF099-2A0F-4EB5-94EA-FBC1D75F3439}" destId="{15137C68-4B5D-4B1D-B4B2-80402D21D7DA}" srcOrd="0" destOrd="0" presId="urn:microsoft.com/office/officeart/2005/8/layout/vList2"/>
    <dgm:cxn modelId="{1E4E3FAD-9896-4446-A041-0D86D2C99007}" type="presOf" srcId="{C907C8CE-51AA-4AA9-8F75-FF204A67042A}" destId="{450465F3-FCDA-4106-9538-57F53166C87C}" srcOrd="0" destOrd="0" presId="urn:microsoft.com/office/officeart/2005/8/layout/vList2"/>
    <dgm:cxn modelId="{703C00BE-BFEE-47D6-9083-9BF8C1CEF0B9}" type="presOf" srcId="{BAE59DD9-0773-4562-8F49-B4E25BD6CA04}" destId="{35330516-8074-475F-A359-66E036674FBA}" srcOrd="0" destOrd="0" presId="urn:microsoft.com/office/officeart/2005/8/layout/vList2"/>
    <dgm:cxn modelId="{ABC96BC8-16DD-4F97-8DB4-B4CC0F230CEE}" srcId="{C3CCF099-2A0F-4EB5-94EA-FBC1D75F3439}" destId="{C907C8CE-51AA-4AA9-8F75-FF204A67042A}" srcOrd="2" destOrd="0" parTransId="{2332BA17-FBD9-403B-BA81-44B97C55ADE0}" sibTransId="{1B6795D1-F0F6-4B69-8ECE-ED890F7DA21B}"/>
    <dgm:cxn modelId="{EAF81C8B-D614-4E35-B9E5-29396AA2F6FF}" type="presParOf" srcId="{15137C68-4B5D-4B1D-B4B2-80402D21D7DA}" destId="{AC7E9ECE-4C70-4D4F-BF40-0EA860708286}" srcOrd="0" destOrd="0" presId="urn:microsoft.com/office/officeart/2005/8/layout/vList2"/>
    <dgm:cxn modelId="{21BFF55D-412A-471B-87FB-6654DB6F87DD}" type="presParOf" srcId="{15137C68-4B5D-4B1D-B4B2-80402D21D7DA}" destId="{514F32EE-BECB-449B-BB27-4C6955C0D888}" srcOrd="1" destOrd="0" presId="urn:microsoft.com/office/officeart/2005/8/layout/vList2"/>
    <dgm:cxn modelId="{2981ACA0-C2A5-4F5A-AC6D-821A07C4971F}" type="presParOf" srcId="{15137C68-4B5D-4B1D-B4B2-80402D21D7DA}" destId="{35330516-8074-475F-A359-66E036674FBA}" srcOrd="2" destOrd="0" presId="urn:microsoft.com/office/officeart/2005/8/layout/vList2"/>
    <dgm:cxn modelId="{1128B194-D355-41E5-BF9D-B769B9FCB171}" type="presParOf" srcId="{15137C68-4B5D-4B1D-B4B2-80402D21D7DA}" destId="{40D22477-E0E4-46DD-A10D-FA73F8F52B98}" srcOrd="3" destOrd="0" presId="urn:microsoft.com/office/officeart/2005/8/layout/vList2"/>
    <dgm:cxn modelId="{99BFD704-3039-4936-923B-0A309CEC3FE6}" type="presParOf" srcId="{15137C68-4B5D-4B1D-B4B2-80402D21D7DA}" destId="{450465F3-FCDA-4106-9538-57F53166C87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0F6A30-3F4D-43FC-9F55-1662879BB3D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9911F0-5C6C-41E0-A1B5-6F9003D9E221}">
      <dgm:prSet custT="1"/>
      <dgm:spPr/>
      <dgm:t>
        <a:bodyPr/>
        <a:lstStyle/>
        <a:p>
          <a:r>
            <a:rPr lang="en-US" sz="1600" b="1" dirty="0">
              <a:latin typeface="Times New Roman"/>
              <a:cs typeface="Times New Roman"/>
            </a:rPr>
            <a:t>Key Insights</a:t>
          </a:r>
        </a:p>
      </dgm:t>
    </dgm:pt>
    <dgm:pt modelId="{719EA8B6-449D-467E-A1D9-51F565C74341}" type="parTrans" cxnId="{CD0C70E9-7306-4BC4-90DD-08A4509286C6}">
      <dgm:prSet/>
      <dgm:spPr/>
      <dgm:t>
        <a:bodyPr/>
        <a:lstStyle/>
        <a:p>
          <a:endParaRPr lang="en-US"/>
        </a:p>
      </dgm:t>
    </dgm:pt>
    <dgm:pt modelId="{15B1D312-4931-487A-881E-F4AC725DA60E}" type="sibTrans" cxnId="{CD0C70E9-7306-4BC4-90DD-08A4509286C6}">
      <dgm:prSet/>
      <dgm:spPr/>
      <dgm:t>
        <a:bodyPr/>
        <a:lstStyle/>
        <a:p>
          <a:endParaRPr lang="en-US"/>
        </a:p>
      </dgm:t>
    </dgm:pt>
    <dgm:pt modelId="{CB903488-90DA-4D7C-A2D0-6380EF117F9D}">
      <dgm:prSet custT="1"/>
      <dgm:spPr/>
      <dgm:t>
        <a:bodyPr/>
        <a:lstStyle/>
        <a:p>
          <a:r>
            <a:rPr lang="en-US" sz="1600" dirty="0">
              <a:latin typeface="Times New Roman"/>
              <a:cs typeface="Times New Roman"/>
            </a:rPr>
            <a:t>Analysis of total sales for this product was highest in Year 2014, grossing 40.35% of total sales for the year.</a:t>
          </a:r>
        </a:p>
      </dgm:t>
    </dgm:pt>
    <dgm:pt modelId="{9DC21B36-1EE9-4770-823B-0B3237578FAC}" type="parTrans" cxnId="{685DF004-129A-4E56-99EE-DB32B0ACB6BB}">
      <dgm:prSet/>
      <dgm:spPr/>
      <dgm:t>
        <a:bodyPr/>
        <a:lstStyle/>
        <a:p>
          <a:endParaRPr lang="en-US"/>
        </a:p>
      </dgm:t>
    </dgm:pt>
    <dgm:pt modelId="{5C240C47-2B71-4AD0-9952-EFC796FBC1F2}" type="sibTrans" cxnId="{685DF004-129A-4E56-99EE-DB32B0ACB6BB}">
      <dgm:prSet/>
      <dgm:spPr/>
      <dgm:t>
        <a:bodyPr/>
        <a:lstStyle/>
        <a:p>
          <a:endParaRPr lang="en-US"/>
        </a:p>
      </dgm:t>
    </dgm:pt>
    <dgm:pt modelId="{BE521C23-4C2B-4DF2-B59C-FD54ED2C9CDF}">
      <dgm:prSet/>
      <dgm:spPr/>
      <dgm:t>
        <a:bodyPr/>
        <a:lstStyle/>
        <a:p>
          <a:r>
            <a:rPr lang="en-US" sz="1600" dirty="0">
              <a:latin typeface="Times New Roman"/>
              <a:cs typeface="Times New Roman"/>
            </a:rPr>
            <a:t>Over the 4 year period, sales and cost of sales increase and decrease, concurrently. With Total Cost of Sales slightly higher than for the last 3 years, indicating a decline in sales (low profitability).</a:t>
          </a:r>
        </a:p>
      </dgm:t>
    </dgm:pt>
    <dgm:pt modelId="{493AC585-CC46-4247-AFC9-DD4E6A00324E}" type="parTrans" cxnId="{D7FB7BD2-1721-48A6-A6F6-DC898EAF363A}">
      <dgm:prSet/>
      <dgm:spPr/>
      <dgm:t>
        <a:bodyPr/>
        <a:lstStyle/>
        <a:p>
          <a:endParaRPr lang="en-US"/>
        </a:p>
      </dgm:t>
    </dgm:pt>
    <dgm:pt modelId="{080AD34D-5C22-412D-B436-8709A0E10166}" type="sibTrans" cxnId="{D7FB7BD2-1721-48A6-A6F6-DC898EAF363A}">
      <dgm:prSet/>
      <dgm:spPr/>
      <dgm:t>
        <a:bodyPr/>
        <a:lstStyle/>
        <a:p>
          <a:endParaRPr lang="en-US"/>
        </a:p>
      </dgm:t>
    </dgm:pt>
    <dgm:pt modelId="{7DA31CD9-B481-4B90-96F8-5D435BBC7D96}" type="pres">
      <dgm:prSet presAssocID="{790F6A30-3F4D-43FC-9F55-1662879BB3D9}" presName="Name0" presStyleCnt="0">
        <dgm:presLayoutVars>
          <dgm:dir/>
          <dgm:resizeHandles val="exact"/>
        </dgm:presLayoutVars>
      </dgm:prSet>
      <dgm:spPr/>
    </dgm:pt>
    <dgm:pt modelId="{D669C5D7-BCD6-4B17-81BC-3C617BC0FA30}" type="pres">
      <dgm:prSet presAssocID="{4B9911F0-5C6C-41E0-A1B5-6F9003D9E221}" presName="node" presStyleLbl="node1" presStyleIdx="0" presStyleCnt="1">
        <dgm:presLayoutVars>
          <dgm:bulletEnabled val="1"/>
        </dgm:presLayoutVars>
      </dgm:prSet>
      <dgm:spPr/>
    </dgm:pt>
  </dgm:ptLst>
  <dgm:cxnLst>
    <dgm:cxn modelId="{685DF004-129A-4E56-99EE-DB32B0ACB6BB}" srcId="{4B9911F0-5C6C-41E0-A1B5-6F9003D9E221}" destId="{CB903488-90DA-4D7C-A2D0-6380EF117F9D}" srcOrd="0" destOrd="0" parTransId="{9DC21B36-1EE9-4770-823B-0B3237578FAC}" sibTransId="{5C240C47-2B71-4AD0-9952-EFC796FBC1F2}"/>
    <dgm:cxn modelId="{972FF63D-521E-423F-B09A-09677557DB11}" type="presOf" srcId="{BE521C23-4C2B-4DF2-B59C-FD54ED2C9CDF}" destId="{D669C5D7-BCD6-4B17-81BC-3C617BC0FA30}" srcOrd="0" destOrd="2" presId="urn:microsoft.com/office/officeart/2005/8/layout/process1"/>
    <dgm:cxn modelId="{6A74A45C-FF4C-4FF0-962B-281E2C9C564B}" type="presOf" srcId="{4B9911F0-5C6C-41E0-A1B5-6F9003D9E221}" destId="{D669C5D7-BCD6-4B17-81BC-3C617BC0FA30}" srcOrd="0" destOrd="0" presId="urn:microsoft.com/office/officeart/2005/8/layout/process1"/>
    <dgm:cxn modelId="{9C62365E-676F-4850-965D-037552A7EC53}" type="presOf" srcId="{CB903488-90DA-4D7C-A2D0-6380EF117F9D}" destId="{D669C5D7-BCD6-4B17-81BC-3C617BC0FA30}" srcOrd="0" destOrd="1" presId="urn:microsoft.com/office/officeart/2005/8/layout/process1"/>
    <dgm:cxn modelId="{D7FB7BD2-1721-48A6-A6F6-DC898EAF363A}" srcId="{4B9911F0-5C6C-41E0-A1B5-6F9003D9E221}" destId="{BE521C23-4C2B-4DF2-B59C-FD54ED2C9CDF}" srcOrd="1" destOrd="0" parTransId="{493AC585-CC46-4247-AFC9-DD4E6A00324E}" sibTransId="{080AD34D-5C22-412D-B436-8709A0E10166}"/>
    <dgm:cxn modelId="{0C460FDA-0115-4ED4-8828-C341DD311D93}" type="presOf" srcId="{790F6A30-3F4D-43FC-9F55-1662879BB3D9}" destId="{7DA31CD9-B481-4B90-96F8-5D435BBC7D96}" srcOrd="0" destOrd="0" presId="urn:microsoft.com/office/officeart/2005/8/layout/process1"/>
    <dgm:cxn modelId="{CD0C70E9-7306-4BC4-90DD-08A4509286C6}" srcId="{790F6A30-3F4D-43FC-9F55-1662879BB3D9}" destId="{4B9911F0-5C6C-41E0-A1B5-6F9003D9E221}" srcOrd="0" destOrd="0" parTransId="{719EA8B6-449D-467E-A1D9-51F565C74341}" sibTransId="{15B1D312-4931-487A-881E-F4AC725DA60E}"/>
    <dgm:cxn modelId="{EF4DD654-018B-4EA0-8428-6A63A54AC6BC}" type="presParOf" srcId="{7DA31CD9-B481-4B90-96F8-5D435BBC7D96}" destId="{D669C5D7-BCD6-4B17-81BC-3C617BC0FA30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E9ECE-4C70-4D4F-BF40-0EA860708286}">
      <dsp:nvSpPr>
        <dsp:cNvPr id="0" name=""/>
        <dsp:cNvSpPr/>
      </dsp:nvSpPr>
      <dsp:spPr>
        <a:xfrm>
          <a:off x="0" y="115909"/>
          <a:ext cx="3271265" cy="1196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FFFFF"/>
              </a:solidFill>
              <a:latin typeface="Times New Roman"/>
              <a:ea typeface="+mn-ea"/>
              <a:cs typeface="+mn-cs"/>
            </a:rPr>
            <a:t>TOTAL SALES   R 187 M</a:t>
          </a:r>
        </a:p>
      </dsp:txBody>
      <dsp:txXfrm>
        <a:off x="58428" y="174337"/>
        <a:ext cx="3154409" cy="1080053"/>
      </dsp:txXfrm>
    </dsp:sp>
    <dsp:sp modelId="{35330516-8074-475F-A359-66E036674FBA}">
      <dsp:nvSpPr>
        <dsp:cNvPr id="0" name=""/>
        <dsp:cNvSpPr/>
      </dsp:nvSpPr>
      <dsp:spPr>
        <a:xfrm>
          <a:off x="0" y="1402099"/>
          <a:ext cx="3271265" cy="1196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FFFFF"/>
              </a:solidFill>
              <a:latin typeface="Times New Roman"/>
              <a:ea typeface="+mn-ea"/>
              <a:cs typeface="+mn-cs"/>
            </a:rPr>
            <a:t>DAILY SELLING PRICE R37.05</a:t>
          </a:r>
        </a:p>
      </dsp:txBody>
      <dsp:txXfrm>
        <a:off x="58428" y="1460527"/>
        <a:ext cx="3154409" cy="1080053"/>
      </dsp:txXfrm>
    </dsp:sp>
    <dsp:sp modelId="{450465F3-FCDA-4106-9538-57F53166C87C}">
      <dsp:nvSpPr>
        <dsp:cNvPr id="0" name=""/>
        <dsp:cNvSpPr/>
      </dsp:nvSpPr>
      <dsp:spPr>
        <a:xfrm>
          <a:off x="0" y="2688289"/>
          <a:ext cx="3271265" cy="1196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FFFFF"/>
              </a:solidFill>
              <a:latin typeface="Times New Roman"/>
              <a:ea typeface="+mn-ea"/>
              <a:cs typeface="+mn-cs"/>
            </a:rPr>
            <a:t>TOTAL UNITS SOLD 5M</a:t>
          </a:r>
        </a:p>
      </dsp:txBody>
      <dsp:txXfrm>
        <a:off x="58428" y="2746717"/>
        <a:ext cx="3154409" cy="10800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9C5D7-BCD6-4B17-81BC-3C617BC0FA30}">
      <dsp:nvSpPr>
        <dsp:cNvPr id="0" name=""/>
        <dsp:cNvSpPr/>
      </dsp:nvSpPr>
      <dsp:spPr>
        <a:xfrm>
          <a:off x="4116" y="0"/>
          <a:ext cx="8423074" cy="1512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/>
              <a:cs typeface="Times New Roman"/>
            </a:rPr>
            <a:t>Key Insights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/>
              <a:cs typeface="Times New Roman"/>
            </a:rPr>
            <a:t>Analysis of total sales for this product was highest in Year 2014, grossing 40.35% of total sales for the year.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/>
              <a:cs typeface="Times New Roman"/>
            </a:rPr>
            <a:t>Over the 4 year period, sales and cost of sales increase and decrease, concurrently. With Total Cost of Sales slightly higher than for the last 3 years, indicating a decline in sales (low profitability).</a:t>
          </a:r>
        </a:p>
      </dsp:txBody>
      <dsp:txXfrm>
        <a:off x="48404" y="44288"/>
        <a:ext cx="8334498" cy="14235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443" y="935303"/>
            <a:ext cx="5691116" cy="2184295"/>
          </a:xfrm>
        </p:spPr>
        <p:txBody>
          <a:bodyPr anchor="b">
            <a:normAutofit/>
          </a:bodyPr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43" y="3203091"/>
            <a:ext cx="5691116" cy="1178409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7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0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36" y="461347"/>
            <a:ext cx="6204855" cy="3340716"/>
          </a:xfrm>
        </p:spPr>
        <p:txBody>
          <a:bodyPr anchor="t">
            <a:normAutofit/>
          </a:bodyPr>
          <a:lstStyle>
            <a:lvl1pPr>
              <a:defRPr sz="405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535" y="3824553"/>
            <a:ext cx="6204855" cy="1153848"/>
          </a:xfrm>
        </p:spPr>
        <p:txBody>
          <a:bodyPr anchor="b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8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57200"/>
            <a:ext cx="8055864" cy="9435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6164"/>
            <a:ext cx="8059341" cy="9527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404779"/>
            <a:ext cx="3868340" cy="46652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1989079"/>
            <a:ext cx="3868340" cy="31375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4779"/>
            <a:ext cx="3887391" cy="46652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89079"/>
            <a:ext cx="3887392" cy="31375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3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2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06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70" y="461347"/>
            <a:ext cx="2696726" cy="1464588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461347"/>
            <a:ext cx="4709806" cy="457200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70" y="1925934"/>
            <a:ext cx="2696726" cy="310741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0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464821"/>
            <a:ext cx="2696726" cy="1843594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97490" y="547586"/>
            <a:ext cx="4862765" cy="462992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2355114"/>
            <a:ext cx="2689190" cy="2862198"/>
          </a:xfrm>
        </p:spPr>
        <p:txBody>
          <a:bodyPr anchor="b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6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57200"/>
            <a:ext cx="7886700" cy="9435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9486" y="1400749"/>
            <a:ext cx="7886700" cy="37467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28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26166" y="482081"/>
            <a:ext cx="1535278" cy="4665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482081"/>
            <a:ext cx="6597516" cy="4665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6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57200"/>
            <a:ext cx="7990184" cy="9435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6" y="1429610"/>
            <a:ext cx="7990184" cy="382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70" y="5377502"/>
            <a:ext cx="2620736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7391" y="5377502"/>
            <a:ext cx="2104054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4122" y="5377502"/>
            <a:ext cx="321905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1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chart" Target="../charts/chart2.xml"/><Relationship Id="rId7" Type="http://schemas.openxmlformats.org/officeDocument/2006/relationships/diagramColors" Target="../diagrams/colors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alculator, pen, compass, money and a paper with graphs printed on it">
            <a:extLst>
              <a:ext uri="{FF2B5EF4-FFF2-40B4-BE49-F238E27FC236}">
                <a16:creationId xmlns:a16="http://schemas.microsoft.com/office/drawing/2014/main" id="{6D01EC71-48F0-2DB4-74EC-C7ACEC8B21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2364"/>
          <a:stretch>
            <a:fillRect/>
          </a:stretch>
        </p:blipFill>
        <p:spPr>
          <a:xfrm>
            <a:off x="20" y="10"/>
            <a:ext cx="9143980" cy="5714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43652"/>
            <a:ext cx="9144000" cy="37713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8379" y="3326250"/>
            <a:ext cx="6628160" cy="1558735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700">
                <a:solidFill>
                  <a:srgbClr val="FFFFFF"/>
                </a:solidFill>
                <a:latin typeface="Times New Roman"/>
                <a:cs typeface="Times New Roman"/>
              </a:rPr>
              <a:t>RETAIL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8379" y="4931165"/>
            <a:ext cx="6628160" cy="537325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KEY INSIGHTS AND FINDINGS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AA652-614C-1CED-CDDC-08A0DE7C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02920"/>
            <a:ext cx="3271264" cy="1272540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Times New Roman"/>
                <a:cs typeface="Times New Roman"/>
              </a:rPr>
              <a:t>SUMMARY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6950C8FF-BD74-B6F8-AF68-DFD0D1813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46200"/>
              </p:ext>
            </p:extLst>
          </p:nvPr>
        </p:nvGraphicFramePr>
        <p:xfrm>
          <a:off x="459485" y="1303306"/>
          <a:ext cx="3271265" cy="4001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E5A6D19B-21C4-D009-6AD8-2B7DA93519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215" r="26510"/>
          <a:stretch>
            <a:fillRect/>
          </a:stretch>
        </p:blipFill>
        <p:spPr>
          <a:xfrm>
            <a:off x="4363974" y="10"/>
            <a:ext cx="4780026" cy="571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4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5450E8B-B9BC-4804-C13A-A5FEB7CA11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1761659"/>
              </p:ext>
            </p:extLst>
          </p:nvPr>
        </p:nvGraphicFramePr>
        <p:xfrm>
          <a:off x="4448080" y="861644"/>
          <a:ext cx="4449210" cy="2860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848DB4-C40E-9D5D-96D4-DF2B593504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2992383"/>
              </p:ext>
            </p:extLst>
          </p:nvPr>
        </p:nvGraphicFramePr>
        <p:xfrm>
          <a:off x="784" y="859366"/>
          <a:ext cx="4442694" cy="2864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8D4B203B-77F7-59FF-40CC-F3BEEDC22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5416863"/>
              </p:ext>
            </p:extLst>
          </p:nvPr>
        </p:nvGraphicFramePr>
        <p:xfrm>
          <a:off x="469107" y="3846164"/>
          <a:ext cx="8431308" cy="1512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E661682-06CE-7E26-3877-C30F5A02D962}"/>
              </a:ext>
            </a:extLst>
          </p:cNvPr>
          <p:cNvSpPr txBox="1"/>
          <p:nvPr/>
        </p:nvSpPr>
        <p:spPr>
          <a:xfrm>
            <a:off x="651377" y="148559"/>
            <a:ext cx="1988190" cy="40862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SALES TREND</a:t>
            </a:r>
          </a:p>
        </p:txBody>
      </p:sp>
    </p:spTree>
    <p:extLst>
      <p:ext uri="{BB962C8B-B14F-4D97-AF65-F5344CB8AC3E}">
        <p14:creationId xmlns:p14="http://schemas.microsoft.com/office/powerpoint/2010/main" val="137202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E5ACD30-2AC2-E324-098D-C5BC753BD1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380185"/>
              </p:ext>
            </p:extLst>
          </p:nvPr>
        </p:nvGraphicFramePr>
        <p:xfrm>
          <a:off x="88566" y="891365"/>
          <a:ext cx="8975782" cy="2962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6EC1BB-91BC-527B-29A9-F4E33B1A4DAB}"/>
              </a:ext>
            </a:extLst>
          </p:cNvPr>
          <p:cNvSpPr txBox="1"/>
          <p:nvPr/>
        </p:nvSpPr>
        <p:spPr>
          <a:xfrm>
            <a:off x="285691" y="274264"/>
            <a:ext cx="3218576" cy="408623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PERFORMANCE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DEA03-3AC7-BDC5-2CD6-294CEE20396F}"/>
              </a:ext>
            </a:extLst>
          </p:cNvPr>
          <p:cNvSpPr txBox="1"/>
          <p:nvPr/>
        </p:nvSpPr>
        <p:spPr>
          <a:xfrm>
            <a:off x="434251" y="4011115"/>
            <a:ext cx="8317218" cy="13280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Key Insights</a:t>
            </a:r>
            <a:endParaRPr lang="en-US"/>
          </a:p>
          <a:p>
            <a:r>
              <a:rPr lang="en-US" dirty="0">
                <a:latin typeface="Times New Roman"/>
                <a:cs typeface="Times New Roman"/>
              </a:rPr>
              <a:t>Periods with higher units sold, generated low daily profits, 2014 Q3 vs. 2016 Q3. This may indicate a temporary rise price most likely due to sudden increase in demand for the product.</a:t>
            </a:r>
          </a:p>
        </p:txBody>
      </p:sp>
    </p:spTree>
    <p:extLst>
      <p:ext uri="{BB962C8B-B14F-4D97-AF65-F5344CB8AC3E}">
        <p14:creationId xmlns:p14="http://schemas.microsoft.com/office/powerpoint/2010/main" val="176417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808C3-10B8-9D0D-1C95-7E626FFA02C1}"/>
              </a:ext>
            </a:extLst>
          </p:cNvPr>
          <p:cNvSpPr txBox="1"/>
          <p:nvPr/>
        </p:nvSpPr>
        <p:spPr>
          <a:xfrm>
            <a:off x="310075" y="159379"/>
            <a:ext cx="2743200" cy="4086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GROWTH TREND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593E36E-61A0-BD05-8214-AFE894742E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8728652"/>
              </p:ext>
            </p:extLst>
          </p:nvPr>
        </p:nvGraphicFramePr>
        <p:xfrm>
          <a:off x="128443" y="674426"/>
          <a:ext cx="8886707" cy="363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0C37CB-6256-38A7-39F7-45908E495F8C}"/>
              </a:ext>
            </a:extLst>
          </p:cNvPr>
          <p:cNvSpPr txBox="1"/>
          <p:nvPr/>
        </p:nvSpPr>
        <p:spPr>
          <a:xfrm>
            <a:off x="304333" y="4445366"/>
            <a:ext cx="8606172" cy="1021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Key Insights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Quarter 4 in 2015 has an extreme low value (-149.46), this may be due to increase demand for the product/increased efforts to promote the product.</a:t>
            </a:r>
          </a:p>
        </p:txBody>
      </p:sp>
    </p:spTree>
    <p:extLst>
      <p:ext uri="{BB962C8B-B14F-4D97-AF65-F5344CB8AC3E}">
        <p14:creationId xmlns:p14="http://schemas.microsoft.com/office/powerpoint/2010/main" val="1985892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C3DD6216-EE68-2353-70D9-374778ED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40" r="9085" b="16848"/>
          <a:stretch>
            <a:fillRect/>
          </a:stretch>
        </p:blipFill>
        <p:spPr>
          <a:xfrm>
            <a:off x="20" y="10"/>
            <a:ext cx="9143980" cy="5714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75044" cy="5715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CB851-142B-F6E5-1204-0DA34915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76" y="1187062"/>
            <a:ext cx="2568287" cy="21195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4740609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(16:10)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VanillaVTI</vt:lpstr>
      <vt:lpstr>RETAIL SALES ANALYSIS</vt:lpstr>
      <vt:lpstr>SUMMARY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243</cp:revision>
  <dcterms:created xsi:type="dcterms:W3CDTF">2013-07-15T20:26:40Z</dcterms:created>
  <dcterms:modified xsi:type="dcterms:W3CDTF">2025-11-25T09:04:34Z</dcterms:modified>
</cp:coreProperties>
</file>